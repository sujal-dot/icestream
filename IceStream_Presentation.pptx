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estream_hero_17908581152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731520"/>
            <a:ext cx="5852160" cy="53035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69280" y="731520"/>
            <a:ext cx="5852160" cy="5303520"/>
          </a:xfrm>
          <a:prstGeom prst="rect">
            <a:avLst/>
          </a:prstGeom>
          <a:noFill/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005840"/>
            <a:ext cx="3108960" cy="329184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E5FF"/>
                </a:solidFill>
                <a:latin typeface="Trebuchet MS"/>
              </a:defRPr>
            </a:pPr>
            <a:r>
              <a:t>ENTERPRISE STREAMING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Trebuchet MS"/>
              </a:defRPr>
            </a:pPr>
            <a:r>
              <a:t>ICESTREAM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  <a:latin typeface="Trebuchet MS"/>
              </a:defRPr>
            </a:pPr>
            <a:r>
              <a:t>Real-Time Lakehouse Observability &amp; Autonomous Self-Healing Data Pipeline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  <a:latin typeface="Calibri"/>
              </a:defRPr>
            </a:pPr>
            <a:r>
              <a:t>Eliminating silent data corruption in mission-critical streaming pipelines with real-time circuit breakers, Apache Iceberg ACID isolation, and closed-loop automated remediation.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444752" cy="347472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0B981"/>
                </a:solidFill>
                <a:latin typeface="Trebuchet MS"/>
              </a:defRPr>
            </a:pPr>
            <a:r>
              <a:t>PHASE 7 VERIFIED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4754880"/>
            <a:ext cx="1444752" cy="347472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E5FF"/>
                </a:solidFill>
                <a:latin typeface="Trebuchet MS"/>
              </a:defRPr>
            </a:pPr>
            <a:r>
              <a:t>APACHE ICEBERG v2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4754880"/>
            <a:ext cx="1444752" cy="347472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8B5CF6"/>
                </a:solidFill>
                <a:latin typeface="Trebuchet MS"/>
              </a:defRPr>
            </a:pPr>
            <a:r>
              <a:t>KAFKA + FLINK HA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8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ICESTREAM  |  Real-Time Lakehouse Observability &amp; Autonomous Self-Healing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E5FF"/>
                </a:solidFill>
                <a:latin typeface="Calibri"/>
              </a:defRPr>
            </a:pPr>
            <a: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377440" cy="292608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EF4444"/>
                </a:solidFill>
                <a:latin typeface="Trebuchet MS"/>
              </a:defRPr>
            </a:pPr>
            <a:r>
              <a:t>THE INDUSTRY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The High-Velocity Data Dilemma: Fast, Dirty &amp; Silent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Modern lakehouses ingest millions of events per second, but silent anomalies corrupt downstream intelligence before teams notice.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364992" cy="35661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874519"/>
            <a:ext cx="3090672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39111"/>
            <a:ext cx="2907792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EF4444"/>
                </a:solidFill>
                <a:latin typeface="Trebuchet MS"/>
              </a:defRPr>
            </a:pPr>
            <a:r>
              <a:t>⚠  Silent Data Poisoning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Malformed JSON payloads bypass naive ingestion filters without throwing crash exceptions.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Subtle schema drift, negative monetary amounts, and null IDs slip through untyped streaming topics.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Micro-anomalies compound across transformations, accumulating undetected in Bronze/Silver lake layers.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874519"/>
            <a:ext cx="3364992" cy="35661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44568" y="1874519"/>
            <a:ext cx="309067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2039111"/>
            <a:ext cx="2907792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F59E0B"/>
                </a:solidFill>
                <a:latin typeface="Trebuchet MS"/>
              </a:defRPr>
            </a:pPr>
            <a:r>
              <a:t>⚡  Downstream Contamination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Tainted events propagate to executive BI dashboards, ML model feature stores, and financial ledgers.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Erroneous analytics lead to incorrect automated pricing, invalid billing runs, and regulatory non-compliance.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Trust in enterprise data pipelines is eroded; analysts spend 60% of their time investigating bad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874519"/>
            <a:ext cx="3364992" cy="35661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874519"/>
            <a:ext cx="3090672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039111"/>
            <a:ext cx="2907792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8B5CF6"/>
                </a:solidFill>
                <a:latin typeface="Trebuchet MS"/>
              </a:defRPr>
            </a:pPr>
            <a:r>
              <a:t>⏱  The 3:00 AM MTTR Nightmare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Mean Time to Detect (MTTD) often exceeds 24-48 hours; Mean Time to Recover (MTTR) takes 4-8 hours.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Manual firefighting: grep server logs, stop consumers, write bespoke backfill scripts, rerun batch jobs.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High operational cost, developer burnout, and persistent fear of deploying upstream schema updates.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596128"/>
            <a:ext cx="10728655" cy="621792"/>
          </a:xfrm>
          <a:prstGeom prst="roundRect">
            <a:avLst/>
          </a:prstGeom>
          <a:solidFill>
            <a:srgbClr val="16121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Calibri"/>
              </a:defRPr>
            </a:pPr>
            <a:r>
              <a:t>CORE REALITY: By the time an analyst flags an invalid revenue aggregate in Tableau, millions of corrupt records have permanently mutated the lake.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8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ICESTREAM  |  Real-Time Lakehouse Observability &amp; Autonomous Self-Healing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E5FF"/>
                </a:solidFill>
                <a:latin typeface="Calibri"/>
              </a:defRPr>
            </a:pPr>
            <a: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377440" cy="292608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  <a:latin typeface="Trebuchet MS"/>
              </a:defRPr>
            </a:pPr>
            <a:r>
              <a:t>THE PARADIGM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The IceStream Solution: An Autonomous Immune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IceStream establishes a real-time, zero-trust quality gate that isolates anomalies, prevents contamination, and auto-heals pipelines.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364992" cy="30175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874519"/>
            <a:ext cx="309067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39111"/>
            <a:ext cx="2907792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0E5FF"/>
                </a:solidFill>
                <a:latin typeface="Trebuchet MS"/>
              </a:defRPr>
            </a:pPr>
            <a:r>
              <a:t>🛡  In-Stream Quality Gate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Continuous, sub-millisecond evaluation of 100% of event payloads in real time.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7-Vector Anomaly Detection + dynamic Schema Drift validation against versioned contracts.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Zero false positives; low-cardinality metrics aggregated continuously in sliding windows.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874519"/>
            <a:ext cx="3364992" cy="30175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44568" y="1874519"/>
            <a:ext cx="309067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2039111"/>
            <a:ext cx="2907792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F59E0B"/>
                </a:solidFill>
                <a:latin typeface="Trebuchet MS"/>
              </a:defRPr>
            </a:pPr>
            <a:r>
              <a:t>⚙  Dynamic Circuit Breaker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Authoritative state machine trips pipeline when rolling error rate crosses 2% critical threshold.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Instantly prevents bad events from corrupting downstream Apache Iceberg Silver &amp; Gold tables.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Half-Open probe mechanism safely verifies source recovery before automated resumption.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874519"/>
            <a:ext cx="3364992" cy="30175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874519"/>
            <a:ext cx="3090672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039111"/>
            <a:ext cx="2907792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10B981"/>
                </a:solidFill>
                <a:latin typeface="Trebuchet MS"/>
              </a:defRPr>
            </a:pPr>
            <a:r>
              <a:t>✨  Autonomous Remediation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Corrupted events routed to an isolated Apache Iceberg Dead Letter Queue (DLQ) with raw payload.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Automated 11-state remediation engine triggers re-fetching, re-validating, and re-processing.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Resolves incidents in &lt; 30 seconds with complete Slack notifications and audit provenance.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029200"/>
            <a:ext cx="2542032" cy="11887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38928"/>
            <a:ext cx="2267712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000" b="1">
                <a:solidFill>
                  <a:srgbClr val="00E5FF"/>
                </a:solidFill>
                <a:latin typeface="Trebuchet MS"/>
              </a:defRPr>
            </a:pPr>
            <a:r>
              <a:t>0%</a:t>
            </a:r>
          </a:p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Trebuchet MS"/>
              </a:defRPr>
            </a:pPr>
            <a:r>
              <a:t>SILENT CORRUPTION</a:t>
            </a:r>
          </a:p>
          <a:p>
            <a:pPr algn="ctr">
              <a:defRPr sz="850">
                <a:solidFill>
                  <a:srgbClr val="94A3B8"/>
                </a:solidFill>
                <a:latin typeface="Calibri"/>
              </a:defRPr>
            </a:pPr>
            <a:r>
              <a:t>100% of in-stream events validated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6432" y="5029200"/>
            <a:ext cx="2542032" cy="11887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93592" y="5138928"/>
            <a:ext cx="2267712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000" b="1">
                <a:solidFill>
                  <a:srgbClr val="F59E0B"/>
                </a:solidFill>
                <a:latin typeface="Trebuchet MS"/>
              </a:defRPr>
            </a:pPr>
            <a:r>
              <a:t>2.0%</a:t>
            </a:r>
          </a:p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Trebuchet MS"/>
              </a:defRPr>
            </a:pPr>
            <a:r>
              <a:t>CRITICAL TRIP LIMIT</a:t>
            </a:r>
          </a:p>
          <a:p>
            <a:pPr algn="ctr">
              <a:defRPr sz="850">
                <a:solidFill>
                  <a:srgbClr val="94A3B8"/>
                </a:solidFill>
                <a:latin typeface="Calibri"/>
              </a:defRPr>
            </a:pPr>
            <a:r>
              <a:t>Dynamic rolling-window threshold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5029200"/>
            <a:ext cx="2542032" cy="11887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8504" y="5138928"/>
            <a:ext cx="2267712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000" b="1">
                <a:solidFill>
                  <a:srgbClr val="10B981"/>
                </a:solidFill>
                <a:latin typeface="Trebuchet MS"/>
              </a:defRPr>
            </a:pPr>
            <a:r>
              <a:t>&lt; 30s</a:t>
            </a:r>
          </a:p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Trebuchet MS"/>
              </a:defRPr>
            </a:pPr>
            <a:r>
              <a:t>AUTOMATED MTTR</a:t>
            </a:r>
          </a:p>
          <a:p>
            <a:pPr algn="ctr">
              <a:defRPr sz="850">
                <a:solidFill>
                  <a:srgbClr val="94A3B8"/>
                </a:solidFill>
                <a:latin typeface="Calibri"/>
              </a:defRPr>
            </a:pPr>
            <a:r>
              <a:t>Autonomous refetch &amp; self-healing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06256" y="5029200"/>
            <a:ext cx="2542032" cy="118872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43416" y="5138928"/>
            <a:ext cx="2267712" cy="9692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000" b="1">
                <a:solidFill>
                  <a:srgbClr val="8B5CF6"/>
                </a:solidFill>
                <a:latin typeface="Trebuchet MS"/>
              </a:defRPr>
            </a:pPr>
            <a:r>
              <a:t>100%</a:t>
            </a:r>
          </a:p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Trebuchet MS"/>
              </a:defRPr>
            </a:pPr>
            <a:r>
              <a:t>ACID CONCURRENCY</a:t>
            </a:r>
          </a:p>
          <a:p>
            <a:pPr algn="ctr">
              <a:defRPr sz="850">
                <a:solidFill>
                  <a:srgbClr val="94A3B8"/>
                </a:solidFill>
                <a:latin typeface="Calibri"/>
              </a:defRPr>
            </a:pPr>
            <a:r>
              <a:t>Zero uncommitted dirty reads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8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ICESTREAM  |  Real-Time Lakehouse Observability &amp; Autonomous Self-Healing 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E5FF"/>
                </a:solidFill>
                <a:latin typeface="Calibri"/>
              </a:defRPr>
            </a:pPr>
            <a: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377440" cy="292608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E5FF"/>
                </a:solidFill>
                <a:latin typeface="Trebuchet MS"/>
              </a:defRPr>
            </a:pPr>
            <a:r>
              <a:t>SYSTEM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End-to-End Enterprise Architecture: Ingestion to Lakehouse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A decoupled, fault-tolerant topology connecting high-throughput messaging, streaming compute, ACID lakehouse, and observability.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039112" cy="41148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920240"/>
            <a:ext cx="1764792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84832"/>
            <a:ext cx="1581912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38BDF8"/>
                </a:solidFill>
                <a:latin typeface="Trebuchet MS"/>
              </a:defRPr>
            </a:pPr>
            <a:r>
              <a:t>▶  1. INGESTION</a:t>
            </a:r>
            <a:br/>
            <a:r>
              <a:t>Kafka KRaft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6 Core Event Topics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1,000+ events/sec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KRaft Quorum (No ZK)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RF=3 Partition HA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Schema validation topic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8648" y="1920240"/>
            <a:ext cx="2039112" cy="41148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35808" y="1920240"/>
            <a:ext cx="1764792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27248" y="2084832"/>
            <a:ext cx="1581912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8B5CF6"/>
                </a:solidFill>
                <a:latin typeface="Trebuchet MS"/>
              </a:defRPr>
            </a:pPr>
            <a:r>
              <a:t>▶  2. STREAM ENGINE</a:t>
            </a:r>
            <a:br/>
            <a:r>
              <a:t>Apache Flink 1.18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Stateful Stream Joins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Exactly-Once 2PC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10s Checkpoint Barriers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RocksDB State Backend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S3 Commit Coordination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65776" y="1920240"/>
            <a:ext cx="2039112" cy="41148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02936" y="1920240"/>
            <a:ext cx="176479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94376" y="2084832"/>
            <a:ext cx="1581912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0E5FF"/>
                </a:solidFill>
                <a:latin typeface="Trebuchet MS"/>
              </a:defRPr>
            </a:pPr>
            <a:r>
              <a:t>▶  3. QUALITY ENGINE</a:t>
            </a:r>
            <a:br/>
            <a:r>
              <a:t>Dual Engine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7-Vector Anomaly Engine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Schema Drift Engine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Great Expectations GE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1m / 5m Rolling Window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Circuit Breaker FSM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32904" y="1920240"/>
            <a:ext cx="2039112" cy="41148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70064" y="1920240"/>
            <a:ext cx="1764792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61504" y="2084832"/>
            <a:ext cx="1581912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10B981"/>
                </a:solidFill>
                <a:latin typeface="Trebuchet MS"/>
              </a:defRPr>
            </a:pPr>
            <a:r>
              <a:t>▶  4. LAKEHOUSE</a:t>
            </a:r>
            <a:br/>
            <a:r>
              <a:t>Apache Iceberg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REST Catalog on S3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Bronze Raw Table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Silver Curated Table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Parquet DLQ Quarantine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Auto Parquet Compactor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00032" y="1920240"/>
            <a:ext cx="2039112" cy="41148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37192" y="1920240"/>
            <a:ext cx="176479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8632" y="2084832"/>
            <a:ext cx="1581912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F59E0B"/>
                </a:solidFill>
                <a:latin typeface="Trebuchet MS"/>
              </a:defRPr>
            </a:pPr>
            <a:r>
              <a:t>▶  5. CONTROL PLANE</a:t>
            </a:r>
            <a:br/>
            <a:r>
              <a:t>FastAPI &amp; React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Asynchronous REST API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React Flow Lineage DAG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Node Diagnostic Engine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Slack Webhook Alerts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Prometheus / Grafana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8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ICESTREAM  |  Real-Time Lakehouse Observability &amp; Autonomous Self-Healing 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E5FF"/>
                </a:solidFill>
                <a:latin typeface="Calibri"/>
              </a:defRPr>
            </a:pPr>
            <a: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377440" cy="292608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E5FF"/>
                </a:solidFill>
                <a:latin typeface="Trebuchet MS"/>
              </a:defRPr>
            </a:pPr>
            <a:r>
              <a:t>DATA INTEGRITY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Deep Dive: Multi-Vector Quality &amp; Schema Drift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Combining ultra-fast custom streaming validation with enterprise declarative Great Expectations suites.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212080" cy="4251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874519"/>
            <a:ext cx="493776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39111"/>
            <a:ext cx="4754880" cy="3977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0E5FF"/>
                </a:solidFill>
                <a:latin typeface="Trebuchet MS"/>
              </a:defRPr>
            </a:pPr>
            <a:r>
              <a:t>⚡  7 In-Stream Anomaly Detectors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Null &amp; Required Field Validation: Enforces mandatory fields like customer_id, order_id, amount without exception crashes.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Positive Amount Verification: Rejects negative payments or impossible micro-transactions; validates currency domains (USD, EUR, GBP).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Impossible Amount Bounds: Detects extreme billing anomalies and outlier transaction values outside expected limits.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Future Timestamp &amp; Lateness Tolerances: Rejects events with clocks skewed into the future or stale late records.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Rolling Deduplication Engine: Bounded state deduplication against duplicate event_ids and repeated order transactions.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Dynamic Severity Classification: Categorizes rule failures into CRITICAL, HIGH, MEDIUM, and LOW tiers for granular 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74519"/>
            <a:ext cx="5212080" cy="4251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874519"/>
            <a:ext cx="493776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039111"/>
            <a:ext cx="4754880" cy="3977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8B5CF6"/>
                </a:solidFill>
                <a:latin typeface="Trebuchet MS"/>
              </a:defRPr>
            </a:pPr>
            <a:r>
              <a:t>🧬  Schema Drift &amp; Hybrid Great Expectations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Zero-I/O Dynamic Schema Comparator: Evaluates payload structures against cached JSON Schema contracts (v1, v2, v3) in &lt; 0.4 ms.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Granular Change Taxonomy: Categorizes NEW_COLUMN, MISSING_COLUMN, TYPE_CHANGE, and RENAMED_COLUMN evolutions.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Compatibility Engine: Evaluates evolutions as COMPATIBLE, WARNING, or BREAKING with actionable remediation hints.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Great Expectations (v0.18) Adapter: Maps declarative enterprise expectations to standardized streaming ValidationResult models.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Deduplicated Aggregation: Multiple rule violations on a single event are aggregated into 1 failed record to prevent error over-counting.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Low-Cardinality Telemetry: Emits real-time Prometheus counters for pass/fail ratios and rule violation distributions.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8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ICESTREAM  |  Real-Time Lakehouse Observability &amp; Autonomous Self-Healing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E5FF"/>
                </a:solidFill>
                <a:latin typeface="Calibri"/>
              </a:defRPr>
            </a:pPr>
            <a: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377440" cy="292608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59E0B"/>
                </a:solidFill>
                <a:latin typeface="Trebuchet MS"/>
              </a:defRPr>
            </a:pPr>
            <a:r>
              <a:t>AUTONOMOUS REMEDIATION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Dynamic Circuit Breaker &amp; 11-State Self-Healing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Moving data engineering from passive Slack alerts to closed-loop, automated failure isolation and self-healing.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6217920" cy="4251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874519"/>
            <a:ext cx="59436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39111"/>
            <a:ext cx="5760720" cy="3977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F59E0B"/>
                </a:solidFill>
                <a:latin typeface="Trebuchet MS"/>
              </a:defRPr>
            </a:pPr>
            <a:r>
              <a:t>🔄  The 11-State Self-Healing State Machine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[RUNNING] Healthy baseline: Error rate &lt; 1.0% in 1m &amp; 5m rolling windows.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[DEGRADED] Warning threshold crossed (1.0% - 2.0% error rate). Telemetry alerts emitted.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[CIRCUIT_OPEN] Critical threshold breached (&gt; 2.0%). Pipeline ingestion tripped automatically.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[QUARANTINING] Corrupted events isolated to Apache Iceberg DLQ; Silver stream paused.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[REMEDIATING] Autonomous remediation controller takes thread-safe idempotency lock.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[REFETCHING] Re-fetches clean payloads from upstream source adapters using provenance IDs.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[REPROCESSING] Re-runs Quality Engine against re-fetched events to guarantee cleanliness.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[VALIDATING] Confirms zero violations across batch; routes remaining bad data to quarantine.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[RESUMING] Half-Open probe verifies source stability before full traffic resumption.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[RECOVERED] Pipeline restored to RUNNING; incident automatically marked RESOLVED in DB &amp; Slack.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1874519"/>
            <a:ext cx="4206240" cy="12801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60920" y="1874519"/>
            <a:ext cx="393192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2039111"/>
            <a:ext cx="37490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0E5FF"/>
                </a:solidFill>
                <a:latin typeface="Trebuchet MS"/>
              </a:defRPr>
            </a:pPr>
            <a:r>
              <a:t>📊  Dynamic Error-Rate Engine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Calculates real-time failure ratio: invalid_events / total_events.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1-min &amp; 5-min dual rolling windows prevent jitter.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3291840"/>
            <a:ext cx="4206240" cy="12801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60920" y="3291840"/>
            <a:ext cx="393192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60" y="3456432"/>
            <a:ext cx="37490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10B981"/>
                </a:solidFill>
                <a:latin typeface="Trebuchet MS"/>
              </a:defRPr>
            </a:pPr>
            <a:r>
              <a:t>🔒  Half-Open Recovery Probe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Single-probe recovery protects against flapping pipelines.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Requires verified zero errors before full circuit closure.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4709160"/>
            <a:ext cx="4206240" cy="1417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60920" y="4709160"/>
            <a:ext cx="393192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4873752"/>
            <a:ext cx="374904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8B5CF6"/>
                </a:solidFill>
                <a:latin typeface="Trebuchet MS"/>
              </a:defRPr>
            </a:pPr>
            <a:r>
              <a:t>🛡  Idempotent Concurrency Lock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PostgreSQL-backed state manager with SQLite fallback.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Exponential backoff (3 attempts max) prevents retry storms.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8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ICESTREAM  |  Real-Time Lakehouse Observability &amp; Autonomous Self-Healing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E5FF"/>
                </a:solidFill>
                <a:latin typeface="Calibri"/>
              </a:defRPr>
            </a:pPr>
            <a: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377440" cy="292608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E5FF"/>
                </a:solidFill>
                <a:latin typeface="Trebuchet MS"/>
              </a:defRPr>
            </a:pPr>
            <a:r>
              <a:t>LAKEHOUSE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Apache Iceberg Lakehouse: Multi-Tiered ACID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Stateless REST catalog, snapshot isolation, and elimination of the streaming small-file problem.</a:t>
            </a:r>
          </a:p>
        </p:txBody>
      </p:sp>
      <p:pic>
        <p:nvPicPr>
          <p:cNvPr id="6" name="Picture 5" descr="icestream_lakehouse_17908581863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74519"/>
            <a:ext cx="5394960" cy="42519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874519"/>
            <a:ext cx="5394960" cy="4251960"/>
          </a:xfrm>
          <a:prstGeom prst="rect">
            <a:avLst/>
          </a:prstGeom>
          <a:noFill/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0" y="1874519"/>
            <a:ext cx="5029200" cy="13258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37960" y="1874519"/>
            <a:ext cx="475488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039111"/>
            <a:ext cx="45720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0E5FF"/>
                </a:solidFill>
                <a:latin typeface="Trebuchet MS"/>
              </a:defRPr>
            </a:pPr>
            <a:r>
              <a:t>📂  Multi-Tiered Data Separation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Bronze: Raw immutable event log preserving full payload history.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Silver: Validated, deduplicated, schema-enforced curated table.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Quarantine: ACID Dead Letter Queue storing raw corrupted events.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337560"/>
            <a:ext cx="5029200" cy="13258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37960" y="3337560"/>
            <a:ext cx="47548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3502152"/>
            <a:ext cx="45720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10B981"/>
                </a:solidFill>
                <a:latin typeface="Trebuchet MS"/>
              </a:defRPr>
            </a:pPr>
            <a:r>
              <a:t>⚡  Optimistic Concurrency Control (OCC)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Readers never block writers: Snapshot isolation guarantees zero locks.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Atomic Pointer Swaps: REST Catalog commits snapshots atomically.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Durability: Empirically audited under 500 concurrent write collisions.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800600"/>
            <a:ext cx="5029200" cy="13258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37960" y="4800600"/>
            <a:ext cx="47548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4965192"/>
            <a:ext cx="45720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F59E0B"/>
                </a:solidFill>
                <a:latin typeface="Trebuchet MS"/>
              </a:defRPr>
            </a:pPr>
            <a:r>
              <a:t>🗜  Elimination of Small-File Problem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10s Flink checkpoint alignment prevents micro-parquet explosion.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Micro-batch QuarantineWriter (50-event / 5s buffer) protects S3 IOPS.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Background compaction merges small files into 128 MB blocks.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8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ICESTREAM  |  Real-Time Lakehouse Observability &amp; Autonomous Self-Healing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E5FF"/>
                </a:solidFill>
                <a:latin typeface="Calibri"/>
              </a:defRPr>
            </a:pPr>
            <a: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377440" cy="292608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E5FF"/>
                </a:solidFill>
                <a:latin typeface="Trebuchet MS"/>
              </a:defRPr>
            </a:pPr>
            <a:r>
              <a:t>COMMAND &amp;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Full-Stack Observability &amp; Interactive Lineage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React Flow interactive topology, node diagnostics, real-time telemetry curves, and Slack incident management.</a:t>
            </a:r>
          </a:p>
        </p:txBody>
      </p:sp>
      <p:pic>
        <p:nvPicPr>
          <p:cNvPr id="6" name="Picture 5" descr="icestream_observability_17908581622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74519"/>
            <a:ext cx="5394960" cy="42519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1874519"/>
            <a:ext cx="5394960" cy="4251960"/>
          </a:xfrm>
          <a:prstGeom prst="rect">
            <a:avLst/>
          </a:prstGeom>
          <a:noFill/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0" y="1874519"/>
            <a:ext cx="5029200" cy="13258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37960" y="1874519"/>
            <a:ext cx="475488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039111"/>
            <a:ext cx="45720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0E5FF"/>
                </a:solidFill>
                <a:latin typeface="Trebuchet MS"/>
              </a:defRPr>
            </a:pPr>
            <a:r>
              <a:t>🗺  React Flow Interactive DAG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Live topology visualization mapping data flow across Kafka, Flink, Quality Engine, Iceberg, and DLQ.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Dynamic status badges reflecting all 12 backend pipeline states.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337560"/>
            <a:ext cx="5029200" cy="13258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37960" y="3337560"/>
            <a:ext cx="475488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3502152"/>
            <a:ext cx="45720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EF4444"/>
                </a:solidFill>
                <a:latin typeface="Trebuchet MS"/>
              </a:defRPr>
            </a:pPr>
            <a:r>
              <a:t>🔍  'Why is this node red?' Diagnostics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1-click root cause inspection on degraded or circuit-open nodes.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Instant breakdown of top failing rules, error rates, and active incidents.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Direct links to trigger autonomous remediation or pause pipeline.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800600"/>
            <a:ext cx="5029200" cy="132588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37960" y="4800600"/>
            <a:ext cx="475488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4965192"/>
            <a:ext cx="45720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8B5CF6"/>
                </a:solidFill>
                <a:latin typeface="Trebuchet MS"/>
              </a:defRPr>
            </a:pPr>
            <a:r>
              <a:t>🔔  Slack Lifecycle &amp; Incident Resolution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Automated deterministic incident generation (INC-YYYY-MMDD-XXXX).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3x exponential backoff Slack alerts with thread correlation.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In-app Acknowledge and Resolve actions backed by PostgreSQL.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8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ICESTREAM  |  Real-Time Lakehouse Observability &amp; Autonomous Self-Healing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E5FF"/>
                </a:solidFill>
                <a:latin typeface="Calibri"/>
              </a:defRPr>
            </a:pPr>
            <a: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377440" cy="292608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8B5CF6"/>
                </a:solidFill>
                <a:latin typeface="Trebuchet MS"/>
              </a:defRPr>
            </a:pPr>
            <a:r>
              <a:t>INFRASTRUCTURE 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Mission-Critical High Availability (HA) &amp; Failover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Engineered for zero data loss, multi-node clustering, and graceful automated failover.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212080" cy="1965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874519"/>
            <a:ext cx="493776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39111"/>
            <a:ext cx="475488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38BDF8"/>
                </a:solidFill>
                <a:latin typeface="Trebuchet MS"/>
              </a:defRPr>
            </a:pPr>
            <a:r>
              <a:t>📡  3-Broker Kafka KRaft Quorum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KRaft consensus replaces ZooKeeper; zero metadata latency spikes.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Topics configured with Replication Factor 3 and Min.ISR = 2.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Guarantees zero data loss even during an abrupt broker crash.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74519"/>
            <a:ext cx="5212080" cy="1965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874519"/>
            <a:ext cx="493776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039111"/>
            <a:ext cx="475488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8B5CF6"/>
                </a:solidFill>
                <a:latin typeface="Trebuchet MS"/>
              </a:defRPr>
            </a:pPr>
            <a:r>
              <a:t>⚡  Dual Flink JobManagers with HA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Active-Standby JobManager architecture with automatic leader election.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Continuous state checkpointing to S3 MinIO storage.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Standby JobManager restores consumer offsets in &lt; 5 seconds.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69080"/>
            <a:ext cx="5212080" cy="1965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4069080"/>
            <a:ext cx="493776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33672"/>
            <a:ext cx="475488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0E5FF"/>
                </a:solidFill>
                <a:latin typeface="Trebuchet MS"/>
              </a:defRPr>
            </a:pPr>
            <a:r>
              <a:t>🌐  Load-Balanced Backend Cluster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Multi-worker FastAPI processes behind an Nginx reverse proxy.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Authoritative state stored in PostgreSQL with resilient SQLite fallback.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State-modifying endpoints secured by Bearer token authentication.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069080"/>
            <a:ext cx="5212080" cy="1965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4069080"/>
            <a:ext cx="49377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233672"/>
            <a:ext cx="475488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10B981"/>
                </a:solidFill>
                <a:latin typeface="Trebuchet MS"/>
              </a:defRPr>
            </a:pPr>
            <a:r>
              <a:t>🧪  Empirically Tested Chaos Failover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Automated chaos script (test_ha_failover.sh) verifies resilience.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Random container kills on Kafka brokers &amp; Flink workers.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100% verified message delivery without duplicate commits.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8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ICESTREAM  |  Real-Time Lakehouse Observability &amp; Autonomous Self-Healing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E5FF"/>
                </a:solidFill>
                <a:latin typeface="Calibri"/>
              </a:defRPr>
            </a:pPr>
            <a: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377440" cy="292608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E5FF"/>
                </a:solidFill>
                <a:latin typeface="Trebuchet MS"/>
              </a:defRPr>
            </a:pPr>
            <a:r>
              <a:t>EMPIRICAL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Battle-Tested Performance Under Extreme Streaming 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Rigorously validated through continuous fault injection, high-throughput load tests, and concurrency audits.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2542032" cy="137160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84247"/>
            <a:ext cx="2267712" cy="1152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000" b="1">
                <a:solidFill>
                  <a:srgbClr val="00E5FF"/>
                </a:solidFill>
                <a:latin typeface="Trebuchet MS"/>
              </a:defRPr>
            </a:pPr>
            <a:r>
              <a:t>10,000+</a:t>
            </a:r>
          </a:p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Trebuchet MS"/>
              </a:defRPr>
            </a:pPr>
            <a:r>
              <a:t>EVENTS / SECOND</a:t>
            </a:r>
          </a:p>
          <a:p>
            <a:pPr algn="ctr">
              <a:defRPr sz="850">
                <a:solidFill>
                  <a:srgbClr val="94A3B8"/>
                </a:solidFill>
                <a:latin typeface="Calibri"/>
              </a:defRPr>
            </a:pPr>
            <a:r>
              <a:t>Single-node streaming throughput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874519"/>
            <a:ext cx="2542032" cy="137160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984247"/>
            <a:ext cx="2267712" cy="1152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000" b="1">
                <a:solidFill>
                  <a:srgbClr val="38BDF8"/>
                </a:solidFill>
                <a:latin typeface="Trebuchet MS"/>
              </a:defRPr>
            </a:pPr>
            <a:r>
              <a:t>&lt; 2.8 ms</a:t>
            </a:r>
          </a:p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Trebuchet MS"/>
              </a:defRPr>
            </a:pPr>
            <a:r>
              <a:t>END-TO-END LATENCY</a:t>
            </a:r>
          </a:p>
          <a:p>
            <a:pPr algn="ctr">
              <a:defRPr sz="850">
                <a:solidFill>
                  <a:srgbClr val="94A3B8"/>
                </a:solidFill>
                <a:latin typeface="Calibri"/>
              </a:defRPr>
            </a:pPr>
            <a:r>
              <a:t>p95 ingestion to validation lag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874519"/>
            <a:ext cx="2542032" cy="137160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1984247"/>
            <a:ext cx="2267712" cy="1152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000" b="1">
                <a:solidFill>
                  <a:srgbClr val="8B5CF6"/>
                </a:solidFill>
                <a:latin typeface="Trebuchet MS"/>
              </a:defRPr>
            </a:pPr>
            <a:r>
              <a:t>&lt; 0.4 ms</a:t>
            </a:r>
          </a:p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Trebuchet MS"/>
              </a:defRPr>
            </a:pPr>
            <a:r>
              <a:t>DRIFT DETECTION LAG</a:t>
            </a:r>
          </a:p>
          <a:p>
            <a:pPr algn="ctr">
              <a:defRPr sz="850">
                <a:solidFill>
                  <a:srgbClr val="94A3B8"/>
                </a:solidFill>
                <a:latin typeface="Calibri"/>
              </a:defRPr>
            </a:pPr>
            <a:r>
              <a:t>Zero-I/O in-memory schema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874519"/>
            <a:ext cx="2542032" cy="137160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3416" y="1984247"/>
            <a:ext cx="2267712" cy="1152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3000" b="1">
                <a:solidFill>
                  <a:srgbClr val="10B981"/>
                </a:solidFill>
                <a:latin typeface="Trebuchet MS"/>
              </a:defRPr>
            </a:pPr>
            <a:r>
              <a:t>0 Lost</a:t>
            </a:r>
          </a:p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  <a:latin typeface="Trebuchet MS"/>
              </a:defRPr>
            </a:pPr>
            <a:r>
              <a:t>ACID AUDIT (500 CONCURRENCY)</a:t>
            </a:r>
          </a:p>
          <a:p>
            <a:pPr algn="ctr">
              <a:defRPr sz="850">
                <a:solidFill>
                  <a:srgbClr val="94A3B8"/>
                </a:solidFill>
                <a:latin typeface="Calibri"/>
              </a:defRPr>
            </a:pPr>
            <a:r>
              <a:t>Zero lost updates or phantom reads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20440"/>
            <a:ext cx="5212080" cy="2560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3520440"/>
            <a:ext cx="493776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685032"/>
            <a:ext cx="475488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0E5FF"/>
                </a:solidFill>
                <a:latin typeface="Trebuchet MS"/>
              </a:defRPr>
            </a:pPr>
            <a:r>
              <a:t>🚀  Streaming Throughput &amp; In-Flight Latency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Peak Generator Rate: Sustains 1,000 to 10,000 events/sec with real-time anomaly injection without consumer lag buildup.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Flink 2PC Latency: Checkpoint barriers flush every 10s with sub-second commit latency to Iceberg REST Catalog.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Memory Efficiency: Bounded state window aggregators restrict memory overhead to &lt; 120 MB under continuous multi-hour loads.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520440"/>
            <a:ext cx="5212080" cy="25603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3520440"/>
            <a:ext cx="49377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685032"/>
            <a:ext cx="475488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10B981"/>
                </a:solidFill>
                <a:latin typeface="Trebuchet MS"/>
              </a:defRPr>
            </a:pPr>
            <a:r>
              <a:t>💎  ACID Concurrency &amp; Quarantine Stress Test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Quarantine DLQ Throughput: QuarantineWriter buffers and flushes 1,000 bad records/sec without single-record S3 file explosion.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500-Writer Concurrency OCC: Simulated concurrent Iceberg appends achieved 100% commit success via exponential backoff.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Fast Recovery: Complete autonomous remediation loop finishes in &lt; 30 seconds from circuit trip to clean resume.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8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ICESTREAM  |  Real-Time Lakehouse Observability &amp; Autonomous Self-Healing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E5FF"/>
                </a:solidFill>
                <a:latin typeface="Calibri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377440" cy="292608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E5FF"/>
                </a:solidFill>
                <a:latin typeface="Trebuchet MS"/>
              </a:defRPr>
            </a:pPr>
            <a:r>
              <a:t>TECHNOLOGY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Best-of-Breed Polyglot Data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Open-source, cloud-native enterprise components integrated into a cohesive, production-grade ecosystem.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364992" cy="1965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874519"/>
            <a:ext cx="3090672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39111"/>
            <a:ext cx="2907792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38BDF8"/>
                </a:solidFill>
                <a:latin typeface="Trebuchet MS"/>
              </a:defRPr>
            </a:pPr>
            <a:r>
              <a:t>📡  Streaming &amp; Ingestion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Apache Kafka (KRaft mode quorum)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Apache Flink 1.18 (Stream SQL)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Exactly-Once Two-Phase Commit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Python High-Throughput Generator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874519"/>
            <a:ext cx="3364992" cy="1965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44568" y="1874519"/>
            <a:ext cx="3090672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2039111"/>
            <a:ext cx="2907792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00E5FF"/>
                </a:solidFill>
                <a:latin typeface="Trebuchet MS"/>
              </a:defRPr>
            </a:pPr>
            <a:r>
              <a:t>❄  Lakehouse &amp; Storage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Apache Iceberg (Format v2)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REST Catalog (tabulario/iceberg-rest)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MinIO S3-Compatible Object Store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Columnar Apache Parquet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874519"/>
            <a:ext cx="3364992" cy="1965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874519"/>
            <a:ext cx="3090672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039111"/>
            <a:ext cx="2907792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8B5CF6"/>
                </a:solidFill>
                <a:latin typeface="Trebuchet MS"/>
              </a:defRPr>
            </a:pPr>
            <a:r>
              <a:t>🛡  Quality &amp; Data Contracts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Custom 7-Vector Anomaly Engine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Great Expectations (v0.18.19)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JSON Schema Evolution Registry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Rolling-Window Error-Rate Engine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69080"/>
            <a:ext cx="3364992" cy="1965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4069080"/>
            <a:ext cx="3090672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233672"/>
            <a:ext cx="2907792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10B981"/>
                </a:solidFill>
                <a:latin typeface="Trebuchet MS"/>
              </a:defRPr>
            </a:pPr>
            <a:r>
              <a:t>⚡  Backend &amp; Control Plane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FastAPI (Asynchronous Python 3.10+)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PostgreSQL (Authoritative state)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Pydantic v2 Contract Validation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Bearer Token Authentication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7408" y="4069080"/>
            <a:ext cx="3364992" cy="1965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44568" y="4069080"/>
            <a:ext cx="309067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36008" y="4233672"/>
            <a:ext cx="2907792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F59E0B"/>
                </a:solidFill>
                <a:latin typeface="Trebuchet MS"/>
              </a:defRPr>
            </a:pPr>
            <a:r>
              <a:t>🖥  UI &amp; Observability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React 18 + TypeScript + Vite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React Flow (@xyflow/react DAG)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Prometheus Exporter &amp; Metrics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Grafana Pre-Configured Dashboards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4069080"/>
            <a:ext cx="3364992" cy="196596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4069080"/>
            <a:ext cx="3090672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4233672"/>
            <a:ext cx="2907792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EF4444"/>
                </a:solidFill>
                <a:latin typeface="Trebuchet MS"/>
              </a:defRPr>
            </a:pPr>
            <a:r>
              <a:t>🐳  DevOps &amp; Infrastructure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Docker &amp; Docker Compose HA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Kubernetes Cloud Manifests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Slack Webhook Alerts Integration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• 200+ Automated Pytest Test Suite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8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ICESTREAM  |  Real-Time Lakehouse Observability &amp; Autonomous Self-Healing 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E5FF"/>
                </a:solidFill>
                <a:latin typeface="Calibri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377440" cy="292608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  <a:latin typeface="Trebuchet MS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Business Impact &amp; The Future of Autonomous Data Platforms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Transforming enterprise data reliability from manual firefighting to continuous, self-healing assurance.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212080" cy="30175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874519"/>
            <a:ext cx="493776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39111"/>
            <a:ext cx="475488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EF4444"/>
                </a:solidFill>
                <a:latin typeface="Trebuchet MS"/>
              </a:defRPr>
            </a:pPr>
            <a:r>
              <a:t>✖  Before IceStream (Industry Baseline)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✖ Silent data corruption slips into production lakehouse undetected.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✖ Contaminated BI reports lead to bad executive business decisions.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✖ MTTD: 24 to 48 hours; MTTR: 4 to 8 hours of manual engineer intervention.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✖ Engineers waste 30% of engineering bandwidth on backfills and firefighting.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✖ High cloud storage costs from uncontrolled small-file proliferation.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74519"/>
            <a:ext cx="5212080" cy="30175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1E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874519"/>
            <a:ext cx="49377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039111"/>
            <a:ext cx="475488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50" b="1">
                <a:solidFill>
                  <a:srgbClr val="10B981"/>
                </a:solidFill>
                <a:latin typeface="Trebuchet MS"/>
              </a:defRPr>
            </a:pPr>
            <a:r>
              <a:t>✔  With IceStream (Enterprise Advantage)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✔ 100% of event streams verified in real time; 0% silent corruption.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✔ Dynamic circuit breakers protect downstream silver/gold analytics tables.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✔ Autonomous MTTR in &lt; 30 seconds with complete Slack audit trails.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✔ Engineering teams refocus entirely on new business products.</a:t>
            </a:r>
          </a:p>
          <a:p>
            <a:pPr>
              <a:spcAft>
                <a:spcPts val="5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✔ Optimized Iceberg compaction cuts S3 list/read IOPS overhead by 80%.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20640"/>
            <a:ext cx="10728655" cy="100584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93792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5FF"/>
                </a:solidFill>
                <a:latin typeface="Trebuchet MS"/>
              </a:defRPr>
            </a:pPr>
            <a:r>
              <a:t>READY FOR ENTERPRISE DEPLOYMENT  •  SINGLE-COMMAND START: ./start.sh</a:t>
            </a:r>
          </a:p>
          <a:p>
            <a:pPr algn="ctr">
              <a:spcBef>
                <a:spcPts val="3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React Dashboard: http://localhost:5173  |  FastAPI Telemetry: http://localhost:8000  |  Grafana: http://localhost:3000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55080"/>
            <a:ext cx="10728655" cy="13716"/>
          </a:xfrm>
          <a:prstGeom prst="rect">
            <a:avLst/>
          </a:prstGeom>
          <a:solidFill>
            <a:srgbClr val="182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ICESTREAM  |  Real-Time Lakehouse Observability &amp; Autonomous Self-Healing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008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E5FF"/>
                </a:solidFill>
                <a:latin typeface="Calibri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